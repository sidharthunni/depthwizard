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97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microsoft.com/office/2007/relationships/hdphoto" Target="../media/hdphoto2.wdp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092731" y="2029464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320040"/>
            <a:ext cx="7772400" cy="731520"/>
          </a:xfrm>
        </p:spPr>
        <p:txBody>
          <a:bodyPr/>
          <a:lstStyle/>
          <a:p>
            <a:r>
              <a:rPr sz="2800" b="1">
                <a:solidFill>
                  <a:srgbClr val="0F172A"/>
                </a:solidFill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6858000" cy="457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b="1" sz="1550">
                <a:solidFill>
                  <a:srgbClr val="0F172A"/>
                </a:solidFill>
              </a:rPr>
              <a:t>• Problem Statement ID:</a:t>
            </a:r>
            <a:r>
              <a:rPr b="1" sz="1550">
                <a:solidFill>
                  <a:srgbClr val="E11D48"/>
                </a:solidFill>
              </a:rPr>
              <a:t> 26175</a:t>
            </a:r>
            <a:endParaRPr lang="en-US" dirty="0"/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0F172A"/>
                </a:solidFill>
              </a:rPr>
              <a:t>• Problem Statement Title:</a:t>
            </a:r>
            <a:r>
              <a:rPr b="0" sz="1550">
                <a:solidFill>
                  <a:srgbClr val="0F172A"/>
                </a:solidFill>
              </a:rPr>
              <a:t> DepthWizard: Single-View Height Estimation &amp; 3D Tactical Digital Twin for Rapid Reconnaissance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0F172A"/>
                </a:solidFill>
              </a:rPr>
              <a:t>• Theme:</a:t>
            </a:r>
            <a:r>
              <a:rPr b="0" sz="1550">
                <a:solidFill>
                  <a:srgbClr val="0F172A"/>
                </a:solidFill>
              </a:rPr>
              <a:t> Disaster Management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0F172A"/>
                </a:solidFill>
              </a:rPr>
              <a:t>• PS Category:</a:t>
            </a:r>
            <a:r>
              <a:rPr b="0" sz="1550">
                <a:solidFill>
                  <a:srgbClr val="0F172A"/>
                </a:solidFill>
              </a:rPr>
              <a:t> Software (AI/ML + WebGPU GIS Digital Twin)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0F172A"/>
                </a:solidFill>
              </a:rPr>
              <a:t>• Team ID:</a:t>
            </a:r>
            <a:r>
              <a:rPr b="0" sz="1550">
                <a:solidFill>
                  <a:srgbClr val="0F172A"/>
                </a:solidFill>
              </a:rPr>
              <a:t> [Insert Registered Team ID]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0F172A"/>
                </a:solidFill>
              </a:rPr>
              <a:t>• Team Name:</a:t>
            </a:r>
            <a:r>
              <a:rPr b="1" sz="1550">
                <a:solidFill>
                  <a:srgbClr val="0284C7"/>
                </a:solidFill>
              </a:rPr>
              <a:t> Control 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D6D685-C2D4-B3E2-5196-C9986BA0506B}"/>
              </a:ext>
            </a:extLst>
          </p:cNvPr>
          <p:cNvSpPr/>
          <p:nvPr/>
        </p:nvSpPr>
        <p:spPr>
          <a:xfrm>
            <a:off x="0" y="1907432"/>
            <a:ext cx="4945224" cy="1570344"/>
          </a:xfrm>
          <a:prstGeom prst="round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19098" y="-14616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DepthWizard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Single-View Height</a:t>
            </a:r>
            <a:b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Estimation and 3D Flythrough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F172A"/>
                </a:solidFill>
              </a:rPr>
              <a:t>Control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9B7280-16EE-400D-A2C2-E340BFF3FEE3}"/>
              </a:ext>
            </a:extLst>
          </p:cNvPr>
          <p:cNvSpPr txBox="1"/>
          <p:nvPr/>
        </p:nvSpPr>
        <p:spPr>
          <a:xfrm>
            <a:off x="43189" y="1920339"/>
            <a:ext cx="4945224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</a:t>
            </a:r>
          </a:p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elevation mapping (stereo, LiDAR, InSAR) is expensive, complex, and often too slow for urgent needs like defence, urban planning, and disaster response.</a:t>
            </a:r>
            <a:endParaRPr lang="en-IN" sz="2000" b="1" u="sng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30C6CB-AB7F-4084-5256-12177C647051}"/>
              </a:ext>
            </a:extLst>
          </p:cNvPr>
          <p:cNvSpPr/>
          <p:nvPr/>
        </p:nvSpPr>
        <p:spPr>
          <a:xfrm>
            <a:off x="-1" y="3949911"/>
            <a:ext cx="4945225" cy="2096326"/>
          </a:xfrm>
          <a:prstGeom prst="round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3A8436-29F8-6E3A-1C18-1ABBF9030533}"/>
              </a:ext>
            </a:extLst>
          </p:cNvPr>
          <p:cNvSpPr txBox="1"/>
          <p:nvPr/>
        </p:nvSpPr>
        <p:spPr>
          <a:xfrm>
            <a:off x="43189" y="4079176"/>
            <a:ext cx="4945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MATTERS?</a:t>
            </a:r>
          </a:p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monocular depth models estimate relative depth for ground-level photos, but fail on satellite imagery due to domain shift and lack of absolute scale and solving this is our core goal.</a:t>
            </a:r>
            <a:endParaRPr lang="en-IN" sz="2000" b="1" u="sng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0CE5AFCF-5A1F-E925-2252-FBF2E7BC6E26}"/>
              </a:ext>
            </a:extLst>
          </p:cNvPr>
          <p:cNvSpPr/>
          <p:nvPr/>
        </p:nvSpPr>
        <p:spPr>
          <a:xfrm>
            <a:off x="9129309" y="1135218"/>
            <a:ext cx="3000488" cy="2583105"/>
          </a:xfrm>
          <a:prstGeom prst="foldedCorner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</a:gradFill>
          <a:ln>
            <a:noFill/>
          </a:ln>
          <a:effectLst>
            <a:outerShdw blurRad="1397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3A011A-6ED4-BADB-0B42-F6B12BF4CD6B}"/>
              </a:ext>
            </a:extLst>
          </p:cNvPr>
          <p:cNvSpPr txBox="1"/>
          <p:nvPr/>
        </p:nvSpPr>
        <p:spPr>
          <a:xfrm>
            <a:off x="9191513" y="1143000"/>
            <a:ext cx="3000487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1400">
                <a:solidFill>
                  <a:srgbClr val="FBBF24"/>
                </a:solidFill>
              </a:defRPr>
            </a:pPr>
            <a:r>
              <a:t>OUR SOLUTION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DepthWizard automates 3D digital twins via 3 Real-Time Ingestion Streams: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• 🔍 Locality Search: Direct geocoding of cities &amp; landmarks worldwide.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• 📍 Precise Coordinates: Lat/Long decimal targeting for remote grids.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• 🛰️ Frontline Live GPS: 1-click automated satellite acquisition.</a:t>
            </a:r>
          </a:p>
          <a:p>
            <a:pPr>
              <a:spcBef>
                <a:spcPts val="400"/>
              </a:spcBef>
              <a:defRPr sz="900">
                <a:solidFill>
                  <a:srgbClr val="34D399"/>
                </a:solidFill>
              </a:defRPr>
            </a:pPr>
            <a:r>
              <a:t>Monocular Depth AI yields metric DSM, flood sim &amp; safe escape routes in &lt; 5s.</a:t>
            </a:r>
          </a:p>
          <a:p>
            <a:pPr>
              <a:spcBef>
                <a:spcPts val="500"/>
              </a:spcBef>
              <a:defRPr sz="950" b="1">
                <a:solidFill>
                  <a:srgbClr val="FBBF24"/>
                </a:solidFill>
              </a:defRPr>
            </a:pPr>
            <a:r>
              <a:t>🌐 Live Prototype Portal:</a:t>
            </a:r>
          </a:p>
          <a:p>
            <a:pPr>
              <a:defRPr sz="850" b="1">
                <a:solidFill>
                  <a:srgbClr val="38BDF8"/>
                </a:solidFill>
              </a:defRPr>
            </a:pPr>
            <a:r>
              <a:t>https://blank-gods-prayers-reduced.trycloudflare.com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B88A912-0215-8B13-FBCF-FBB224C3E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40" y="1352697"/>
            <a:ext cx="6228298" cy="525368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AA1D564-37AA-0BEA-EC14-72C2236FA2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201"/>
                    </a14:imgEffect>
                    <a14:imgEffect>
                      <a14:saturation sat="167000"/>
                    </a14:imgEffect>
                    <a14:imgEffect>
                      <a14:brightnessContrast bright="43000" contras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21989" y="1468970"/>
            <a:ext cx="1135703" cy="11357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19A2B0B-8072-676A-FE64-7BFD828FFC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2676" y="3563326"/>
            <a:ext cx="1205016" cy="9024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0CBF49-998E-25E7-3B03-B2814117EB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90923" y="833673"/>
            <a:ext cx="1182954" cy="11149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2E563AA-7DA3-8CB3-1DD0-40DFB5D1EB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384" y="4048927"/>
            <a:ext cx="2878050" cy="27226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66C146DE-CA7E-68EA-59F8-6BFA68805B6A}"/>
              </a:ext>
            </a:extLst>
          </p:cNvPr>
          <p:cNvSpPr/>
          <p:nvPr/>
        </p:nvSpPr>
        <p:spPr>
          <a:xfrm>
            <a:off x="3727402" y="1284333"/>
            <a:ext cx="2235429" cy="1365217"/>
          </a:xfrm>
          <a:prstGeom prst="foldedCorner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</a:gradFill>
          <a:ln>
            <a:noFill/>
          </a:ln>
          <a:effectLst>
            <a:outerShdw blurRad="1397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97414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F172A"/>
                </a:solidFill>
              </a:rPr>
              <a:t>Control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4C87A0-6A23-3BB3-415C-2ECFCCFBF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6000"/>
                    </a14:imgEffect>
                    <a14:imgEffect>
                      <a14:saturation sat="140000"/>
                    </a14:imgEffect>
                    <a14:imgEffect>
                      <a14:brightnessContrast bright="2000" contrast="-14000"/>
                    </a14:imgEffect>
                  </a14:imgLayer>
                </a14:imgProps>
              </a:ext>
            </a:extLst>
          </a:blip>
          <a:srcRect b="7315"/>
          <a:stretch>
            <a:fillRect/>
          </a:stretch>
        </p:blipFill>
        <p:spPr>
          <a:xfrm>
            <a:off x="6532" y="1095375"/>
            <a:ext cx="3997815" cy="52765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D35F61-85AE-B72F-C435-09349E218BD1}"/>
              </a:ext>
            </a:extLst>
          </p:cNvPr>
          <p:cNvSpPr txBox="1"/>
          <p:nvPr/>
        </p:nvSpPr>
        <p:spPr>
          <a:xfrm>
            <a:off x="3901237" y="1578077"/>
            <a:ext cx="2264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1150">
                <a:solidFill>
                  <a:srgbClr val="FBBF24"/>
                </a:solidFill>
              </a:defRPr>
            </a:pPr>
            <a:r>
              <a:t>CORE 4-STAGE PIPELINE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• 1. Multi-Stream Ingestion (Search/Coords/GPS)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• 2. Neural Depth-to-DSM Transformer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• 3. LOD-1 3D Building Extrusion in WebGPU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• 4. Tactical Recon: Flood Sim, Triage &amp; Helipads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844E26B-BC25-BA22-535D-96E8C9BC1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91584" flipH="1" flipV="1">
            <a:off x="3369307" y="2776685"/>
            <a:ext cx="1063861" cy="106386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3FA4F97-C6E2-350E-9C3B-74E8B18FB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6303" y="2874749"/>
            <a:ext cx="2759743" cy="224742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5A42A4C-A2B6-0653-791C-A8F58F9C290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9170"/>
          <a:stretch>
            <a:fillRect/>
          </a:stretch>
        </p:blipFill>
        <p:spPr>
          <a:xfrm>
            <a:off x="7393894" y="838809"/>
            <a:ext cx="4798106" cy="5438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F172A"/>
                </a:solidFill>
              </a:rPr>
              <a:t>Control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C88B4B-FB3D-AA40-5664-303812B99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F172A"/>
                </a:solidFill>
              </a:rPr>
              <a:t>Control X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F172A"/>
                </a:solidFill>
              </a:rPr>
              <a:t>Control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655DAF-CEA3-50D7-50A6-EFE8CAC9FC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83" t="-593" r="6926" b="593"/>
          <a:stretch>
            <a:fillRect/>
          </a:stretch>
        </p:blipFill>
        <p:spPr>
          <a:xfrm>
            <a:off x="167951" y="1395246"/>
            <a:ext cx="6270171" cy="4569619"/>
          </a:xfrm>
          <a:prstGeom prst="rect">
            <a:avLst/>
          </a:prstGeom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6D731367-7A1B-D4DD-BF8C-ADE6B9CEA8B9}"/>
              </a:ext>
            </a:extLst>
          </p:cNvPr>
          <p:cNvSpPr/>
          <p:nvPr/>
        </p:nvSpPr>
        <p:spPr>
          <a:xfrm>
            <a:off x="9299600" y="1209354"/>
            <a:ext cx="2830195" cy="2331584"/>
          </a:xfrm>
          <a:prstGeom prst="foldedCorner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</a:gradFill>
          <a:ln>
            <a:noFill/>
          </a:ln>
          <a:effectLst>
            <a:outerShdw blurRad="1397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610B9-EDA5-D904-1840-5D59AE4588D7}"/>
              </a:ext>
            </a:extLst>
          </p:cNvPr>
          <p:cNvSpPr txBox="1"/>
          <p:nvPr/>
        </p:nvSpPr>
        <p:spPr>
          <a:xfrm>
            <a:off x="9361805" y="1188720"/>
            <a:ext cx="2830194" cy="393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1100">
                <a:solidFill>
                  <a:srgbClr val="FBBF24"/>
                </a:solidFill>
              </a:defRPr>
            </a:pPr>
            <a:r>
              <a:t>SCALABILITY &amp;</a:t>
            </a:r>
          </a:p>
          <a:p>
            <a:pPr>
              <a:spcAft>
                <a:spcPts val="400"/>
              </a:spcAft>
              <a:defRPr b="1" sz="1100">
                <a:solidFill>
                  <a:srgbClr val="FBBF24"/>
                </a:solidFill>
              </a:defRPr>
            </a:pPr>
            <a:r>
              <a:t>QUANTIFIED ROI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• ₹0 Sensor Cost: Replaces ₹15–50L aerial LiDAR flights with existing satellite archives (98% cost reduction).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• Golden Hour Speed: Turnaround slashed from 72h to &lt; 5s for urgent response.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• Automated Evacuation: Identifies safe havens &amp; 3D ground escape routes.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• Aerial Heli Extraction: AI rooftop landing viability for IAF ALH Dhruv.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• National Scale: Instant deployment across NDMA, SDRF &amp; district DEOCs.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B49706-F4D8-017B-18ED-2CE1424DE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8060" y="907808"/>
            <a:ext cx="1115815" cy="10516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C51A34-55D8-1FE6-8880-8AE343682D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41" r="51972"/>
          <a:stretch>
            <a:fillRect/>
          </a:stretch>
        </p:blipFill>
        <p:spPr>
          <a:xfrm>
            <a:off x="6394042" y="1095375"/>
            <a:ext cx="2721726" cy="16049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9DD1EC-43BE-6B3C-42A0-4EC007B08AE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926" r="4337"/>
          <a:stretch>
            <a:fillRect/>
          </a:stretch>
        </p:blipFill>
        <p:spPr>
          <a:xfrm>
            <a:off x="6394042" y="2694913"/>
            <a:ext cx="2754182" cy="160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051560"/>
            <a:ext cx="105156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350">
                <a:solidFill>
                  <a:srgbClr val="0EA5E9"/>
                </a:solidFill>
              </a:defRPr>
            </a:pPr>
            <a:r>
              <a:t>GOVERNMENT &amp; DEFENSE REGULATORY FRAMEWORKS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50"/>
              </a:spcBef>
            </a:pPr>
            <a:r>
              <a:rPr b="1" sz="1050">
                <a:solidFill>
                  <a:srgbClr val="0F172A"/>
                </a:solidFill>
              </a:rPr>
              <a:t>1. NDMA National Guidelines (2023):</a:t>
            </a:r>
            <a:r>
              <a:rPr sz="1050">
                <a:solidFill>
                  <a:srgbClr val="334155"/>
                </a:solidFill>
              </a:rPr>
              <a:t> Management of Landslides &amp; Avalanches — High-Resolution Elevation Modeling.</a:t>
            </a:r>
          </a:p>
          <a:p>
            <a:pPr>
              <a:spcBef>
                <a:spcPts val="150"/>
              </a:spcBef>
            </a:pPr>
            <a:r>
              <a:rPr b="1" sz="1050">
                <a:solidFill>
                  <a:srgbClr val="0F172A"/>
                </a:solidFill>
              </a:rPr>
              <a:t>2. ISRO Bhuvan / Cartosat Framework:</a:t>
            </a:r>
            <a:r>
              <a:rPr sz="1050">
                <a:solidFill>
                  <a:srgbClr val="334155"/>
                </a:solidFill>
              </a:rPr>
              <a:t> Digital Elevation Models (DEM) Specifications for Disaster Monitoring.</a:t>
            </a:r>
          </a:p>
          <a:p>
            <a:pPr>
              <a:spcBef>
                <a:spcPts val="150"/>
              </a:spcBef>
            </a:pPr>
            <a:r>
              <a:rPr b="1" sz="1050">
                <a:solidFill>
                  <a:srgbClr val="0F172A"/>
                </a:solidFill>
              </a:rPr>
              <a:t>3. ICAO &amp; DGCA Annex 14 Standard:</a:t>
            </a:r>
            <a:r>
              <a:rPr sz="1050">
                <a:solidFill>
                  <a:srgbClr val="334155"/>
                </a:solidFill>
              </a:rPr>
              <a:t> Urban Rooftop Heliport Approach Clearance Gradient (&lt; 3° roof slope).</a:t>
            </a:r>
          </a:p>
          <a:p>
            <a:pPr>
              <a:spcBef>
                <a:spcPts val="150"/>
              </a:spcBef>
            </a:pPr>
            <a:r>
              <a:rPr b="1" sz="1050">
                <a:solidFill>
                  <a:srgbClr val="0F172A"/>
                </a:solidFill>
              </a:rPr>
              <a:t>4. NITI Aayog Geospatial Report (2022):</a:t>
            </a:r>
            <a:r>
              <a:rPr sz="1050">
                <a:solidFill>
                  <a:srgbClr val="334155"/>
                </a:solidFill>
              </a:rPr>
              <a:t> Enabling Resilient Infrastructure through Open Spatial Digital Twins.</a:t>
            </a:r>
          </a:p>
          <a:p>
            <a:pPr>
              <a:spcBef>
                <a:spcPts val="150"/>
              </a:spcBef>
            </a:pPr>
            <a:r>
              <a:rPr b="1" sz="1050">
                <a:solidFill>
                  <a:srgbClr val="0F172A"/>
                </a:solidFill>
              </a:rPr>
              <a:t>5. IEEE Remote Sensing (2024):</a:t>
            </a:r>
            <a:r>
              <a:rPr sz="1050">
                <a:solidFill>
                  <a:srgbClr val="334155"/>
                </a:solidFill>
              </a:rPr>
              <a:t> Foundation Transformers for Monocular Metric Depth Estimation in Satellite Imagery.</a:t>
            </a:r>
          </a:p>
          <a:p>
            <a:pPr>
              <a:spcBef>
                <a:spcPts val="150"/>
              </a:spcBef>
            </a:pPr>
            <a:r>
              <a:rPr b="1" sz="1050">
                <a:solidFill>
                  <a:srgbClr val="0F172A"/>
                </a:solidFill>
              </a:rPr>
              <a:t>6. OpenStreetMap Overpass Consortium:</a:t>
            </a:r>
            <a:r>
              <a:rPr sz="1050">
                <a:solidFill>
                  <a:srgbClr val="334155"/>
                </a:solidFill>
              </a:rPr>
              <a:t> LOD-1 3D Vector Building Extraction &amp; Volumetric Footprint Standards.</a:t>
            </a:r>
          </a:p>
          <a:p>
            <a:pPr>
              <a:spcBef>
                <a:spcPts val="800"/>
              </a:spcBef>
              <a:defRPr b="1" sz="1350">
                <a:solidFill>
                  <a:srgbClr val="059669"/>
                </a:solidFill>
              </a:defRPr>
            </a:pPr>
            <a:r>
              <a:t>LIVE EVALUATION PLATFORM &amp; REPRODUCIBILITY LINKS</a:t>
            </a:r>
          </a:p>
          <a:p>
            <a:pPr>
              <a:spcBef>
                <a:spcPts val="200"/>
              </a:spcBef>
            </a:pPr>
            <a:r>
              <a:rPr b="1" sz="1100">
                <a:solidFill>
                  <a:srgbClr val="0284C7"/>
                </a:solidFill>
              </a:rPr>
              <a:t>• 🌐 Live Interactive Cloud Portal: </a:t>
            </a:r>
            <a:r>
              <a:rPr b="1" sz="1100">
                <a:solidFill>
                  <a:srgbClr val="0EA5E9"/>
                </a:solidFill>
              </a:rPr>
              <a:t>https://blank-gods-prayers-reduced.trycloudflare.com</a:t>
            </a:r>
          </a:p>
          <a:p>
            <a:pPr>
              <a:spcBef>
                <a:spcPts val="200"/>
              </a:spcBef>
            </a:pPr>
            <a:r>
              <a:rPr b="1" sz="1100">
                <a:solidFill>
                  <a:srgbClr val="0F172A"/>
                </a:solidFill>
              </a:rPr>
              <a:t>• 💻 Official Open-Source GitHub Repository: </a:t>
            </a:r>
            <a:r>
              <a:rPr b="1" sz="1100">
                <a:solidFill>
                  <a:srgbClr val="0EA5E9"/>
                </a:solidFill>
              </a:rPr>
              <a:t>https://github.com/sidharthunni/depthwizard</a:t>
            </a:r>
          </a:p>
          <a:p>
            <a:pPr>
              <a:spcBef>
                <a:spcPts val="200"/>
              </a:spcBef>
            </a:pPr>
            <a:r>
              <a:rPr b="1" sz="1100">
                <a:solidFill>
                  <a:srgbClr val="D97706"/>
                </a:solidFill>
              </a:rPr>
              <a:t>• 📍 Offline / Local Jury Evaluation Port: </a:t>
            </a:r>
            <a:r>
              <a:rPr b="1" sz="1100">
                <a:solidFill>
                  <a:srgbClr val="0EA5E9"/>
                </a:solidFill>
              </a:rPr>
              <a:t>http://localhost:8080/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F172A"/>
                </a:solidFill>
              </a:rPr>
              <a:t>Control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7654</TotalTime>
  <Words>378</Words>
  <Application>Microsoft Office PowerPoint</Application>
  <PresentationFormat>Widescreen</PresentationFormat>
  <Paragraphs>58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DepthWizard: Single-View Height  Estimation and 3D Flythrough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kailas hari</cp:lastModifiedBy>
  <cp:revision>149</cp:revision>
  <dcterms:created xsi:type="dcterms:W3CDTF">2013-12-12T18:46:50Z</dcterms:created>
  <dcterms:modified xsi:type="dcterms:W3CDTF">2026-09-04T10:06:08Z</dcterms:modified>
  <cp:category/>
</cp:coreProperties>
</file>